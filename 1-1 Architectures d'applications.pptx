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6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1" r:id="rId3"/>
    <p:sldId id="306" r:id="rId4"/>
    <p:sldId id="293" r:id="rId5"/>
    <p:sldId id="294" r:id="rId6"/>
    <p:sldId id="295" r:id="rId7"/>
    <p:sldId id="297" r:id="rId8"/>
    <p:sldId id="298" r:id="rId9"/>
    <p:sldId id="301" r:id="rId10"/>
    <p:sldId id="304" r:id="rId11"/>
    <p:sldId id="305" r:id="rId12"/>
    <p:sldId id="303" r:id="rId13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CC3300"/>
    <a:srgbClr val="FF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59" autoAdjust="0"/>
    <p:restoredTop sz="87965" autoAdjust="0"/>
  </p:normalViewPr>
  <p:slideViewPr>
    <p:cSldViewPr>
      <p:cViewPr varScale="1">
        <p:scale>
          <a:sx n="97" d="100"/>
          <a:sy n="97" d="100"/>
        </p:scale>
        <p:origin x="152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22B2495B-2B4D-466E-8F3B-06D5AA5C9CC1}" type="slidenum">
              <a:rPr lang="fr-CA"/>
              <a:pPr>
                <a:defRPr/>
              </a:pPr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889932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D4BF0501-8F6F-41A5-BEC3-386DD83424BF}" type="slidenum">
              <a:rPr lang="fr-CA"/>
              <a:pPr>
                <a:defRPr/>
              </a:pPr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614066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5D81BD-5AAF-4C2A-B385-546283E5B5DE}" type="slidenum">
              <a:rPr lang="fr-CA" smtClean="0"/>
              <a:pPr/>
              <a:t>5</a:t>
            </a:fld>
            <a:endParaRPr lang="fr-CA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814288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50A56A-62A7-400B-88DB-2B2A07B850BD}" type="slidenum">
              <a:rPr lang="fr-CA" smtClean="0"/>
              <a:pPr/>
              <a:t>7</a:t>
            </a:fld>
            <a:endParaRPr lang="fr-CA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497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DA65CC-5F1E-4780-A19E-0BFD44609B47}" type="slidenum">
              <a:rPr lang="fr-CA" smtClean="0"/>
              <a:pPr/>
              <a:t>8</a:t>
            </a:fld>
            <a:endParaRPr lang="fr-CA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112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D97C37-B737-42E1-B86D-B56ABB49F15E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0084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4A69B-7C90-4627-A47A-46309A842B57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73413-ACD5-4729-80F4-0122B854521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6480-F055-4291-9AE6-FFCB76530EDE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2F89E2-3B27-4647-941C-A13B93AABA70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DB95D4-6F9E-4737-B44B-7DB13AC4F5D1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08CE5-808E-492C-84CA-465665806413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F127A0-F834-424A-8D41-557A19B5E522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FA3D9-209C-407F-9815-9FD99F7B914A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5135859F-4385-44A6-BDF1-A7F7D6FC091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671963-AC75-4CEB-96CC-310800B33FA5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32A8EE-6E59-450D-B905-A7738ED6EED5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62F5E9C1-4C8C-4178-AB35-10A194421C72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189" r:id="rId3"/>
    <p:sldLayoutId id="2147484190" r:id="rId4"/>
    <p:sldLayoutId id="2147484191" r:id="rId5"/>
    <p:sldLayoutId id="2147484192" r:id="rId6"/>
    <p:sldLayoutId id="2147484193" r:id="rId7"/>
    <p:sldLayoutId id="2147484194" r:id="rId8"/>
    <p:sldLayoutId id="2147484195" r:id="rId9"/>
    <p:sldLayoutId id="2147484196" r:id="rId10"/>
    <p:sldLayoutId id="214748419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914400" y="28956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2400"/>
          </a:p>
        </p:txBody>
      </p:sp>
      <p:sp>
        <p:nvSpPr>
          <p:cNvPr id="205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611188" y="1916113"/>
            <a:ext cx="7772400" cy="93821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fr-CA" dirty="0"/>
              <a:t>Cours 420-B56-GG</a:t>
            </a:r>
          </a:p>
        </p:txBody>
      </p:sp>
      <p:sp>
        <p:nvSpPr>
          <p:cNvPr id="5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716338"/>
            <a:ext cx="6400800" cy="1368425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R="0" eaLnBrk="1" hangingPunct="1"/>
            <a:r>
              <a:rPr lang="fr-CA" b="1" dirty="0"/>
              <a:t>Bases de données III</a:t>
            </a:r>
          </a:p>
          <a:p>
            <a:pPr marR="0" eaLnBrk="1" hangingPunct="1"/>
            <a:r>
              <a:rPr lang="fr-CA" b="1" dirty="0"/>
              <a:t>Les architectures d’application</a:t>
            </a:r>
          </a:p>
          <a:p>
            <a:pPr marR="0" eaLnBrk="1" hangingPunct="1"/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8136904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fr-CA" sz="4000" b="1" dirty="0"/>
              <a:t>Les trois couches d’une application (1)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fr-CA" sz="2800" dirty="0"/>
              <a:t>Dans chaque application, on retrouve 3 couches: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fr-CA" sz="28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fr-CA" sz="2800" dirty="0"/>
              <a:t>La couche </a:t>
            </a:r>
            <a:r>
              <a:rPr lang="fr-CA" sz="2800" b="1" dirty="0"/>
              <a:t>Présentation</a:t>
            </a:r>
            <a:r>
              <a:rPr lang="fr-CA" sz="2800" dirty="0"/>
              <a:t> (ou l’interface) :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fr-CA" dirty="0"/>
              <a:t>Cette couche représente le côté  visuel et interactif de l’application.  C’est le lien entre l’utilisateur et l’application.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fr-CA" sz="28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fr-CA" sz="2800" dirty="0"/>
              <a:t>La couche </a:t>
            </a:r>
            <a:r>
              <a:rPr lang="fr-CA" sz="2800" b="1" dirty="0"/>
              <a:t>Traitements</a:t>
            </a:r>
            <a:r>
              <a:rPr lang="fr-CA" sz="2800" dirty="0"/>
              <a:t> (ou logique applicative) :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fr-CA" dirty="0"/>
              <a:t>Cette couche représente  le cœur de l’application. Ce sont les différentes fonctionnalités de l’application.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fr-CA" sz="28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fr-CA" sz="2800" dirty="0"/>
              <a:t>La couche </a:t>
            </a:r>
            <a:r>
              <a:rPr lang="fr-CA" sz="2800" b="1" dirty="0"/>
              <a:t>Données</a:t>
            </a:r>
            <a:r>
              <a:rPr lang="fr-CA" sz="2800" dirty="0"/>
              <a:t>: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fr-CA" dirty="0"/>
              <a:t>Cette couche assure la gestion des données et des informations stockées par ou pour l’application.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fr-CA" sz="2800" dirty="0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Autofit/>
          </a:bodyPr>
          <a:lstStyle/>
          <a:p>
            <a:r>
              <a:rPr lang="fr-CA" sz="4000" b="1" dirty="0"/>
              <a:t>Les trois couches d’une application (2)</a:t>
            </a:r>
            <a:endParaRPr lang="fr-CA" sz="4000" dirty="0"/>
          </a:p>
        </p:txBody>
      </p:sp>
      <p:pic>
        <p:nvPicPr>
          <p:cNvPr id="4" name="Picture 4" descr="img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7704" y="2348880"/>
            <a:ext cx="6896841" cy="3672408"/>
          </a:xfrm>
          <a:noFill/>
        </p:spPr>
      </p:pic>
      <p:sp>
        <p:nvSpPr>
          <p:cNvPr id="6" name="Rectangle à coins arrondis 5"/>
          <p:cNvSpPr/>
          <p:nvPr/>
        </p:nvSpPr>
        <p:spPr>
          <a:xfrm>
            <a:off x="395536" y="1844824"/>
            <a:ext cx="1582737" cy="1439862"/>
          </a:xfrm>
          <a:prstGeom prst="wedgeRoundRectCallout">
            <a:avLst>
              <a:gd name="adj1" fmla="val 63254"/>
              <a:gd name="adj2" fmla="val 2097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1200" b="1" dirty="0">
                <a:solidFill>
                  <a:schemeClr val="tx1"/>
                </a:solidFill>
              </a:rPr>
              <a:t>Gestion de la souris, de la saisie des données, des fenêtres et boîtes de dialogue, de l’affichage de l’information, …  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23528" y="3356992"/>
            <a:ext cx="1584325" cy="936104"/>
          </a:xfrm>
          <a:prstGeom prst="wedgeRoundRectCallout">
            <a:avLst>
              <a:gd name="adj1" fmla="val 128656"/>
              <a:gd name="adj2" fmla="val -295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1200" b="1" dirty="0">
                <a:solidFill>
                  <a:schemeClr val="tx1"/>
                </a:solidFill>
              </a:rPr>
              <a:t>Partie de l’application qui est en lien avec l’interface   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323528" y="4365104"/>
            <a:ext cx="1598613" cy="1079500"/>
          </a:xfrm>
          <a:prstGeom prst="wedgeRoundRectCallout">
            <a:avLst>
              <a:gd name="adj1" fmla="val 123305"/>
              <a:gd name="adj2" fmla="val -5861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1200" b="1" dirty="0">
                <a:solidFill>
                  <a:schemeClr val="tx1"/>
                </a:solidFill>
              </a:rPr>
              <a:t>L’application en elle-même (qui n’est pas en lien avec l’interface)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323528" y="5517232"/>
            <a:ext cx="1584325" cy="1079500"/>
          </a:xfrm>
          <a:prstGeom prst="wedgeRoundRectCallout">
            <a:avLst>
              <a:gd name="adj1" fmla="val 63709"/>
              <a:gd name="adj2" fmla="val -38153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1200" b="1" dirty="0">
                <a:solidFill>
                  <a:schemeClr val="tx1"/>
                </a:solidFill>
              </a:rPr>
              <a:t>Données et informations stockées par ou pour l’application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b="1" dirty="0"/>
              <a:t>L'architecture d'une d'application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CA" sz="2800" dirty="0"/>
              <a:t>Les trois couches d’une application peuvent être réparties de différentes manières entre plusieurs ordinateurs (machines physiques).</a:t>
            </a:r>
          </a:p>
          <a:p>
            <a:pPr eaLnBrk="1" hangingPunct="1"/>
            <a:endParaRPr lang="fr-CA" sz="2800" dirty="0"/>
          </a:p>
          <a:p>
            <a:pPr eaLnBrk="1" hangingPunct="1"/>
            <a:r>
              <a:rPr lang="fr-CA" sz="2800" dirty="0"/>
              <a:t>La répartition des différentes couches permettent de distinguer différents types d’architecture : 1-</a:t>
            </a:r>
            <a:r>
              <a:rPr lang="fr-CA" sz="2800" dirty="0" err="1"/>
              <a:t>tier</a:t>
            </a:r>
            <a:r>
              <a:rPr lang="fr-CA" sz="2800" dirty="0"/>
              <a:t>, 2-tiers, 3-tiers et n-tiers</a:t>
            </a:r>
          </a:p>
          <a:p>
            <a:pPr eaLnBrk="1" hangingPunct="1"/>
            <a:endParaRPr lang="fr-CA" sz="2800" dirty="0"/>
          </a:p>
          <a:p>
            <a:pPr eaLnBrk="1" hangingPunct="1"/>
            <a:endParaRPr lang="fr-CA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080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L’architecture 1-</a:t>
            </a:r>
            <a:r>
              <a:rPr lang="fr-CA" sz="4000" b="1" dirty="0" err="1"/>
              <a:t>tier</a:t>
            </a:r>
            <a:r>
              <a:rPr lang="fr-CA" sz="4000" b="1" dirty="0"/>
              <a:t> (centralisée)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484313"/>
            <a:ext cx="7488238" cy="5040312"/>
          </a:xfrm>
        </p:spPr>
        <p:txBody>
          <a:bodyPr>
            <a:normAutofit fontScale="85000" lnSpcReduction="10000"/>
          </a:bodyPr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Les trois couches sont intimement liées et s'exécutent sur le même ordinateur. On parle ici d’architecture centralisée ou autonome.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Dans le contexte d’un utilisateur isolé, cela ne cause aucun problème, mais peut s’avérer problématique dans un contexte multi-utilisateurs.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Dans un contexte multi-utilisateurs, plusieurs utilisateurs partagent des données stockées sur un ordinateur commun.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Dans ce contexte, cela peut engendrer des problèmes d'administration et de sécurité des données car la gestion des données fait partie intégrante de l’application.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Architecture 2-tiers (client-serveur)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916832"/>
            <a:ext cx="7772400" cy="4107731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La gestion des données est centralisée et est assurée par </a:t>
            </a:r>
            <a:r>
              <a:rPr lang="fr-CA" b="1" u="sng" dirty="0"/>
              <a:t>un moteur de base de données </a:t>
            </a:r>
            <a:r>
              <a:rPr lang="fr-CA" dirty="0"/>
              <a:t>installé sur un serveur nommé </a:t>
            </a:r>
            <a:r>
              <a:rPr lang="fr-CA" i="1" dirty="0"/>
              <a:t>serveur de données</a:t>
            </a:r>
            <a:r>
              <a:rPr lang="fr-CA" dirty="0"/>
              <a:t> (par exemple, </a:t>
            </a:r>
            <a:r>
              <a:rPr lang="fr-CA" b="1" i="1" dirty="0"/>
              <a:t>SQL Server</a:t>
            </a:r>
            <a:r>
              <a:rPr lang="fr-CA" dirty="0"/>
              <a:t>, </a:t>
            </a:r>
            <a:r>
              <a:rPr lang="fr-CA" b="1" i="1" dirty="0" err="1"/>
              <a:t>mySql</a:t>
            </a:r>
            <a:r>
              <a:rPr lang="fr-CA" dirty="0"/>
              <a:t>, etc…)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La couche présentation (interface utilisateur) et la couche traitements sont situés sur le poste client.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La complexité et la puissance du traitement concernant les données dans la base de données sont à la charge du serveur. Le poste client est plus léger.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fr-FR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3" y="1090613"/>
            <a:ext cx="7800975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525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Limites de l’architecture client-serveur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700809"/>
            <a:ext cx="7129462" cy="4680942"/>
          </a:xfrm>
        </p:spPr>
        <p:txBody>
          <a:bodyPr>
            <a:normAutofit fontScale="92500" lnSpcReduction="10000"/>
          </a:bodyPr>
          <a:lstStyle/>
          <a:p>
            <a:pPr fontAlgn="auto">
              <a:lnSpc>
                <a:spcPct val="140000"/>
              </a:lnSpc>
              <a:spcAft>
                <a:spcPts val="0"/>
              </a:spcAft>
              <a:defRPr/>
            </a:pPr>
            <a:r>
              <a:rPr lang="fr-FR" sz="2200" dirty="0"/>
              <a:t>Si trop de clients veulent communiquer avec le serveur au même moment, ce dernier risque de ne pas supporter la charge.</a:t>
            </a:r>
            <a:endParaRPr lang="fr-CA" sz="2200" dirty="0"/>
          </a:p>
          <a:p>
            <a:pPr fontAlgn="auto">
              <a:lnSpc>
                <a:spcPct val="140000"/>
              </a:lnSpc>
              <a:spcAft>
                <a:spcPts val="0"/>
              </a:spcAft>
              <a:defRPr/>
            </a:pPr>
            <a:r>
              <a:rPr lang="fr-FR" sz="2200" dirty="0"/>
              <a:t>Si le serveur n'est plus disponible, plus aucun des clients ne fonctionne</a:t>
            </a:r>
            <a:r>
              <a:rPr lang="fr-CA" sz="2200" dirty="0"/>
              <a:t>.</a:t>
            </a:r>
          </a:p>
          <a:p>
            <a:pPr fontAlgn="auto">
              <a:lnSpc>
                <a:spcPct val="140000"/>
              </a:lnSpc>
              <a:spcAft>
                <a:spcPts val="0"/>
              </a:spcAft>
              <a:defRPr/>
            </a:pPr>
            <a:r>
              <a:rPr lang="fr-FR" sz="2200" dirty="0"/>
              <a:t>Les coûts de mise en place et de maintenance peuvent être élevés.</a:t>
            </a:r>
          </a:p>
          <a:p>
            <a:pPr fontAlgn="auto">
              <a:lnSpc>
                <a:spcPct val="140000"/>
              </a:lnSpc>
              <a:spcAft>
                <a:spcPts val="0"/>
              </a:spcAft>
              <a:defRPr/>
            </a:pPr>
            <a:r>
              <a:rPr lang="fr-CA" sz="2200" dirty="0"/>
              <a:t>La relation étroite qui existe entre le client et l'organisation de la partie serveur complique les évolutions de cette dernière (il faut que les versions correspondent).</a:t>
            </a:r>
            <a:endParaRPr lang="fr-FR" sz="2200" dirty="0"/>
          </a:p>
          <a:p>
            <a:pPr fontAlgn="auto">
              <a:lnSpc>
                <a:spcPct val="140000"/>
              </a:lnSpc>
              <a:spcAft>
                <a:spcPts val="0"/>
              </a:spcAft>
              <a:defRPr/>
            </a:pPr>
            <a:r>
              <a:rPr lang="fr-FR" sz="2200" dirty="0"/>
              <a:t>Les mises-à-jour sont fréquentes. </a:t>
            </a:r>
            <a:endParaRPr lang="fr-CA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Architecture 3-tiers (Distribuée)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2205038"/>
            <a:ext cx="7847012" cy="4400550"/>
          </a:xfrm>
        </p:spPr>
        <p:txBody>
          <a:bodyPr/>
          <a:lstStyle/>
          <a:p>
            <a:pPr eaLnBrk="1" hangingPunct="1"/>
            <a:r>
              <a:rPr lang="fr-CA" dirty="0"/>
              <a:t>La présentation (l’interface) est prise en charge par le poste client.</a:t>
            </a:r>
          </a:p>
          <a:p>
            <a:pPr eaLnBrk="1" hangingPunct="1"/>
            <a:r>
              <a:rPr lang="fr-CA" dirty="0"/>
              <a:t>La logique applicative est prise en charge par un serveur intermédiaire nommé </a:t>
            </a:r>
            <a:r>
              <a:rPr lang="fr-CA" i="1" dirty="0"/>
              <a:t>serveur d’application</a:t>
            </a:r>
            <a:r>
              <a:rPr lang="fr-CA" dirty="0"/>
              <a:t>.</a:t>
            </a:r>
          </a:p>
          <a:p>
            <a:pPr eaLnBrk="1" hangingPunct="1"/>
            <a:r>
              <a:rPr lang="fr-CA" dirty="0"/>
              <a:t>Les données sont gérées de façon centralisée par le </a:t>
            </a:r>
            <a:r>
              <a:rPr lang="fr-CA" i="1" dirty="0"/>
              <a:t>serveur de données</a:t>
            </a:r>
            <a:r>
              <a:rPr lang="fr-CA" dirty="0"/>
              <a:t>. </a:t>
            </a:r>
          </a:p>
          <a:p>
            <a:pPr eaLnBrk="1" hangingPunct="1"/>
            <a:r>
              <a:rPr lang="fr-CA" dirty="0"/>
              <a:t>On parle ici d’</a:t>
            </a:r>
            <a:r>
              <a:rPr lang="fr-CA" b="1" u="sng" dirty="0"/>
              <a:t>architecture distribuée</a:t>
            </a:r>
            <a:r>
              <a:rPr lang="fr-CA" dirty="0"/>
              <a:t>.</a:t>
            </a:r>
          </a:p>
          <a:p>
            <a:pPr eaLnBrk="1" hangingPunct="1"/>
            <a:endParaRPr lang="fr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772400" cy="1008063"/>
          </a:xfrm>
        </p:spPr>
        <p:txBody>
          <a:bodyPr/>
          <a:lstStyle/>
          <a:p>
            <a:pPr eaLnBrk="1" hangingPunct="1"/>
            <a:r>
              <a:rPr lang="fr-CA" b="1">
                <a:solidFill>
                  <a:schemeClr val="tx1"/>
                </a:solidFill>
              </a:rPr>
              <a:t>Architecture 3-tiers</a:t>
            </a:r>
          </a:p>
        </p:txBody>
      </p:sp>
      <p:pic>
        <p:nvPicPr>
          <p:cNvPr id="14342" name="Picture 6" descr="archit_3ti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340768"/>
            <a:ext cx="6912768" cy="50461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Avantages de l’architecture distribuée</a:t>
            </a:r>
            <a:endParaRPr lang="fr-CA" sz="4000" b="1" dirty="0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  <a:defRPr/>
            </a:pPr>
            <a:r>
              <a:rPr lang="fr-CA" dirty="0"/>
              <a:t>Elle sépare nettement toutes les couches de l'application. </a:t>
            </a:r>
          </a:p>
          <a:p>
            <a:pPr>
              <a:lnSpc>
                <a:spcPct val="130000"/>
              </a:lnSpc>
              <a:defRPr/>
            </a:pPr>
            <a:r>
              <a:rPr lang="fr-CA" dirty="0"/>
              <a:t>Le poste client est plus "léger" en ce sens qu'il ne contient aucun traitement applicatif. Il ne contient que l’interface.</a:t>
            </a:r>
          </a:p>
          <a:p>
            <a:pPr>
              <a:lnSpc>
                <a:spcPct val="130000"/>
              </a:lnSpc>
              <a:defRPr/>
            </a:pPr>
            <a:r>
              <a:rPr lang="fr-CA" dirty="0"/>
              <a:t>Donne plus de flexibilité et de souplesse à l'application.</a:t>
            </a:r>
          </a:p>
          <a:p>
            <a:pPr>
              <a:lnSpc>
                <a:spcPct val="130000"/>
              </a:lnSpc>
              <a:defRPr/>
            </a:pPr>
            <a:r>
              <a:rPr lang="fr-CA" dirty="0"/>
              <a:t>S'adapte mieux à la mise en place des nouvelles technologies.  </a:t>
            </a:r>
          </a:p>
          <a:p>
            <a:pPr>
              <a:lnSpc>
                <a:spcPct val="130000"/>
              </a:lnSpc>
              <a:defRPr/>
            </a:pPr>
            <a:r>
              <a:rPr lang="fr-CA" dirty="0"/>
              <a:t>D'un point de vue développement, la séparation qui existe entre le client, le serveur  d’application et le serveur de données permet une spécialisation des développeurs sur chaque tiers de l'architecture. </a:t>
            </a:r>
          </a:p>
          <a:p>
            <a:pPr>
              <a:lnSpc>
                <a:spcPct val="130000"/>
              </a:lnSpc>
              <a:defRPr/>
            </a:pPr>
            <a:r>
              <a:rPr lang="fr-CA" dirty="0"/>
              <a:t>Notez qu’il peut y avoir plusieurs serveurs d’application différents (et parfois plusieurs serveurs de données différents); ce type d’architecture se nomme </a:t>
            </a:r>
            <a:r>
              <a:rPr lang="fr-CA" b="1" dirty="0"/>
              <a:t>architecture n-tiers</a:t>
            </a:r>
            <a:r>
              <a:rPr lang="fr-CA" dirty="0"/>
              <a:t>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fr-CA" sz="2800" dirty="0"/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fr-CA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333375"/>
            <a:ext cx="7920879" cy="109696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CA" sz="4000" b="1" dirty="0"/>
              <a:t>Limites de l’architecture distribuée</a:t>
            </a:r>
            <a:endParaRPr lang="fr-CA" sz="40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844675"/>
            <a:ext cx="7704138" cy="467995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Les serveurs constituent la pierre angulaire de l'architecture; le client a une charge de travail beaucoup moins lourde, mais les serveurs sont fortement sollicités. Il est très difficile de bien répartir la charge de travail entre clients et serveurs. </a:t>
            </a:r>
          </a:p>
          <a:p>
            <a:pPr marL="274320" indent="-274320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De plus, les solutions mises en œuvre sont relativement complexes à maintenir et la gestion est compliquée. Cela demande une bonne expertise au niveau du développement.</a:t>
            </a:r>
          </a:p>
          <a:p>
            <a:pPr marL="274320" indent="-274320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CA" dirty="0"/>
              <a:t>Finalement, les coûts au niveau du développement et de la maintenance sont très élevés.  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fr-C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3873</TotalTime>
  <Words>732</Words>
  <Application>Microsoft Office PowerPoint</Application>
  <PresentationFormat>Affichage à l'écran (4:3)</PresentationFormat>
  <Paragraphs>60</Paragraphs>
  <Slides>12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Calibri</vt:lpstr>
      <vt:lpstr>Constantia</vt:lpstr>
      <vt:lpstr>Times New Roman</vt:lpstr>
      <vt:lpstr>Wingdings</vt:lpstr>
      <vt:lpstr>Wingdings 2</vt:lpstr>
      <vt:lpstr>Débit</vt:lpstr>
      <vt:lpstr>Cours 420-B56-GG</vt:lpstr>
      <vt:lpstr>Les trois couches d’une application (1)</vt:lpstr>
      <vt:lpstr>Les trois couches d’une application (2)</vt:lpstr>
      <vt:lpstr>L'architecture d'une d'application</vt:lpstr>
      <vt:lpstr>L’architecture 1-tier (centralisée)</vt:lpstr>
      <vt:lpstr>Architecture 2-tiers (client-serveur)</vt:lpstr>
      <vt:lpstr>Présentation PowerPoint</vt:lpstr>
      <vt:lpstr>Limites de l’architecture client-serveur</vt:lpstr>
      <vt:lpstr>Architecture 3-tiers (Distribuée)</vt:lpstr>
      <vt:lpstr>Architecture 3-tiers</vt:lpstr>
      <vt:lpstr>Avantages de l’architecture distribuée</vt:lpstr>
      <vt:lpstr>Limites de l’architecture distribuée</vt:lpstr>
    </vt:vector>
  </TitlesOfParts>
  <Company>Collège Gérald-Godin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de systèmes  à l’aide d’outils informatisés</dc:title>
  <dc:creator>F.Cherief</dc:creator>
  <cp:lastModifiedBy>Mohamed Airouche</cp:lastModifiedBy>
  <cp:revision>263</cp:revision>
  <dcterms:created xsi:type="dcterms:W3CDTF">2001-10-08T03:48:50Z</dcterms:created>
  <dcterms:modified xsi:type="dcterms:W3CDTF">2021-08-04T19:43:15Z</dcterms:modified>
</cp:coreProperties>
</file>